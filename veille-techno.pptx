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Instrument Sans Semi Bold"/>
      <p:regular r:id="rId14"/>
    </p:embeddedFont>
    <p:embeddedFont>
      <p:font typeface="Instrument Sans Semi Bold"/>
      <p:regular r:id="rId15"/>
    </p:embeddedFont>
    <p:embeddedFont>
      <p:font typeface="Instrument Sans Semi Bold"/>
      <p:regular r:id="rId16"/>
    </p:embeddedFont>
    <p:embeddedFont>
      <p:font typeface="Instrument Sans Semi Bold"/>
      <p:regular r:id="rId17"/>
    </p:embeddedFont>
    <p:embeddedFont>
      <p:font typeface="Instrument Sans Medium"/>
      <p:regular r:id="rId18"/>
    </p:embeddedFont>
    <p:embeddedFont>
      <p:font typeface="Instrument Sans Medium"/>
      <p:regular r:id="rId19"/>
    </p:embeddedFont>
    <p:embeddedFont>
      <p:font typeface="Instrument Sans Medium"/>
      <p:regular r:id="rId20"/>
    </p:embeddedFont>
    <p:embeddedFont>
      <p:font typeface="Instrument Sans Medium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2104311"/>
            <a:ext cx="4440317" cy="426244"/>
          </a:xfrm>
          <a:prstGeom prst="roundRect">
            <a:avLst>
              <a:gd name="adj" fmla="val 17880"/>
            </a:avLst>
          </a:prstGeom>
          <a:solidFill>
            <a:srgbClr val="E2E3E9"/>
          </a:solidFill>
          <a:ln/>
        </p:spPr>
      </p:sp>
      <p:sp>
        <p:nvSpPr>
          <p:cNvPr id="4" name="Text 1"/>
          <p:cNvSpPr/>
          <p:nvPr/>
        </p:nvSpPr>
        <p:spPr>
          <a:xfrm>
            <a:off x="6416278" y="2172295"/>
            <a:ext cx="4168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VEILLE TECHNOLOGIQUE — BTS SIO SLAM 2026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0190" y="262128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Fiche de veille technologique - BTS SIO SLAM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6280190" y="5144453"/>
            <a:ext cx="7556421" cy="16907"/>
          </a:xfrm>
          <a:prstGeom prst="rect">
            <a:avLst/>
          </a:prstGeom>
          <a:solidFill>
            <a:srgbClr val="5B5F71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280190" y="5558195"/>
            <a:ext cx="598134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Les Assistants de Codage IA</a:t>
            </a:r>
            <a:endParaRPr lang="en-US" sz="3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87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Sommaire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51196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Objectifs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Tendances &amp; Évolution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Exploitation personnelle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19469"/>
            <a:ext cx="57520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1. Objectifs de la veille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8187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Cette veille a pour but de mieux comprendre les évolutions actuelles des assistants de codage IA, afin d'adapter mes compétences aux pratiques les plus demandées. Les objectifs sont 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62832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Identifier les tendances autour des assistants de codage IA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Suivre les mises à jour des outils majeurs (GitHub Copilot, Amazon CodeWhisperer, Tabnine, JetBrains)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Adapter ma formation en fonction des attentes du marché du travail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10383"/>
            <a:ext cx="67051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2. Analyse des tendances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7279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 monde du développement évolue rapidement, avec des outils et des pratiques qui se renouvellent constamment. Voici les grandes tendances observées durant ma veille 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53746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GitHub Copilot reste l'outil le plus utilisé et dominant.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Amazon CodeWhisperer s'impose comme une alternative en montée.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L'IA locale émerge.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7561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Ces tendances influencent directement les compétences attendues chez les développeurs aujourd'hui.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752356"/>
            <a:ext cx="13069014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Évolution chronologique - Septembre 2025 à Avril 2026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706993" y="4610338"/>
            <a:ext cx="13216414" cy="22860"/>
          </a:xfrm>
          <a:prstGeom prst="roundRect">
            <a:avLst>
              <a:gd name="adj" fmla="val 371163"/>
            </a:avLst>
          </a:prstGeom>
          <a:solidFill>
            <a:srgbClr val="C8C9CF"/>
          </a:solidFill>
          <a:ln/>
        </p:spPr>
      </p:sp>
      <p:sp>
        <p:nvSpPr>
          <p:cNvPr id="4" name="Shape 2"/>
          <p:cNvSpPr/>
          <p:nvPr/>
        </p:nvSpPr>
        <p:spPr>
          <a:xfrm>
            <a:off x="2823210" y="4004370"/>
            <a:ext cx="22860" cy="606028"/>
          </a:xfrm>
          <a:prstGeom prst="roundRect">
            <a:avLst>
              <a:gd name="adj" fmla="val 371163"/>
            </a:avLst>
          </a:prstGeom>
          <a:solidFill>
            <a:srgbClr val="C8C9CF"/>
          </a:solidFill>
          <a:ln/>
        </p:spPr>
      </p:sp>
      <p:sp>
        <p:nvSpPr>
          <p:cNvPr id="5" name="Shape 3"/>
          <p:cNvSpPr/>
          <p:nvPr/>
        </p:nvSpPr>
        <p:spPr>
          <a:xfrm>
            <a:off x="2607469" y="4383107"/>
            <a:ext cx="454462" cy="454462"/>
          </a:xfrm>
          <a:prstGeom prst="roundRect">
            <a:avLst>
              <a:gd name="adj" fmla="val 1867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83133" y="4420910"/>
            <a:ext cx="303014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1572101" y="1743432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Septembre 2025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08923" y="2166938"/>
            <a:ext cx="3851672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Agents autonomes</a:t>
            </a:r>
            <a:pPr algn="ctr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Assistants → agents capables d'opérer sur projets complets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08923" y="3191351"/>
            <a:ext cx="385167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Sources :</a:t>
            </a:r>
            <a:pPr algn="ctr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TechEmpower (16/09/2025), 9meters (09/07/2025)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063371" y="4610279"/>
            <a:ext cx="22860" cy="606028"/>
          </a:xfrm>
          <a:prstGeom prst="roundRect">
            <a:avLst>
              <a:gd name="adj" fmla="val 371163"/>
            </a:avLst>
          </a:prstGeom>
          <a:solidFill>
            <a:srgbClr val="C8C9CF"/>
          </a:solidFill>
          <a:ln/>
        </p:spPr>
      </p:sp>
      <p:sp>
        <p:nvSpPr>
          <p:cNvPr id="11" name="Shape 9"/>
          <p:cNvSpPr/>
          <p:nvPr/>
        </p:nvSpPr>
        <p:spPr>
          <a:xfrm>
            <a:off x="4847630" y="4383107"/>
            <a:ext cx="454462" cy="454462"/>
          </a:xfrm>
          <a:prstGeom prst="roundRect">
            <a:avLst>
              <a:gd name="adj" fmla="val 1867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3294" y="4420910"/>
            <a:ext cx="303014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350" dirty="0"/>
          </a:p>
        </p:txBody>
      </p:sp>
      <p:sp>
        <p:nvSpPr>
          <p:cNvPr id="13" name="Text 11"/>
          <p:cNvSpPr/>
          <p:nvPr/>
        </p:nvSpPr>
        <p:spPr>
          <a:xfrm>
            <a:off x="3812381" y="5418296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Octobre 2025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149084" y="5841802"/>
            <a:ext cx="3851791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Exploitation en entreprise</a:t>
            </a:r>
            <a:pPr algn="ctr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Agents IA deviennent professionnels et mesurables (10-30% de productivité)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149084" y="6866215"/>
            <a:ext cx="3851791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Sources :</a:t>
            </a:r>
            <a:pPr algn="ctr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QuickCreator (08/10/2025), AIToolsBee (25/10/2025)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303532" y="4004370"/>
            <a:ext cx="22860" cy="606028"/>
          </a:xfrm>
          <a:prstGeom prst="roundRect">
            <a:avLst>
              <a:gd name="adj" fmla="val 371163"/>
            </a:avLst>
          </a:prstGeom>
          <a:solidFill>
            <a:srgbClr val="C8C9CF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7791" y="4383107"/>
            <a:ext cx="454462" cy="454462"/>
          </a:xfrm>
          <a:prstGeom prst="roundRect">
            <a:avLst>
              <a:gd name="adj" fmla="val 1867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63455" y="4420910"/>
            <a:ext cx="303014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350" dirty="0"/>
          </a:p>
        </p:txBody>
      </p:sp>
      <p:sp>
        <p:nvSpPr>
          <p:cNvPr id="19" name="Text 17"/>
          <p:cNvSpPr/>
          <p:nvPr/>
        </p:nvSpPr>
        <p:spPr>
          <a:xfrm>
            <a:off x="6052542" y="1743432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Décembre 2025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5389245" y="2166938"/>
            <a:ext cx="3851791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Standard du secteur</a:t>
            </a:r>
            <a:pPr algn="ctr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L'IA devient indispensable dans les IDE et CI/CD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389245" y="3191351"/>
            <a:ext cx="3851791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Sources :</a:t>
            </a:r>
            <a:pPr algn="ctr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DataCamp (31/12/2025), StrategyDriven (09/12/2025)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9543812" y="4610279"/>
            <a:ext cx="22860" cy="606028"/>
          </a:xfrm>
          <a:prstGeom prst="roundRect">
            <a:avLst>
              <a:gd name="adj" fmla="val 371163"/>
            </a:avLst>
          </a:prstGeom>
          <a:solidFill>
            <a:srgbClr val="C8C9CF"/>
          </a:solidFill>
          <a:ln/>
        </p:spPr>
      </p:sp>
      <p:sp>
        <p:nvSpPr>
          <p:cNvPr id="23" name="Shape 21"/>
          <p:cNvSpPr/>
          <p:nvPr/>
        </p:nvSpPr>
        <p:spPr>
          <a:xfrm>
            <a:off x="9328071" y="4383107"/>
            <a:ext cx="454462" cy="454462"/>
          </a:xfrm>
          <a:prstGeom prst="roundRect">
            <a:avLst>
              <a:gd name="adj" fmla="val 1867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03735" y="4420910"/>
            <a:ext cx="303014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350" dirty="0"/>
          </a:p>
        </p:txBody>
      </p:sp>
      <p:sp>
        <p:nvSpPr>
          <p:cNvPr id="25" name="Text 23"/>
          <p:cNvSpPr/>
          <p:nvPr/>
        </p:nvSpPr>
        <p:spPr>
          <a:xfrm>
            <a:off x="8292703" y="5418296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Janvier 2026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7629525" y="5841802"/>
            <a:ext cx="3851672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Adoption massive</a:t>
            </a:r>
            <a:pPr algn="ctr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90% des développeurs utilisent l'IA au travail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629525" y="6866215"/>
            <a:ext cx="385167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Sources :</a:t>
            </a:r>
            <a:pPr algn="ctr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JetBrains Research (enquête sept. 2025 &amp; janv. 2026)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11783973" y="4004370"/>
            <a:ext cx="22860" cy="606028"/>
          </a:xfrm>
          <a:prstGeom prst="roundRect">
            <a:avLst>
              <a:gd name="adj" fmla="val 371163"/>
            </a:avLst>
          </a:prstGeom>
          <a:solidFill>
            <a:srgbClr val="C8C9CF"/>
          </a:solidFill>
          <a:ln/>
        </p:spPr>
      </p:sp>
      <p:sp>
        <p:nvSpPr>
          <p:cNvPr id="29" name="Shape 27"/>
          <p:cNvSpPr/>
          <p:nvPr/>
        </p:nvSpPr>
        <p:spPr>
          <a:xfrm>
            <a:off x="11568232" y="4383107"/>
            <a:ext cx="454462" cy="454462"/>
          </a:xfrm>
          <a:prstGeom prst="roundRect">
            <a:avLst>
              <a:gd name="adj" fmla="val 18670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643896" y="4420910"/>
            <a:ext cx="303014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</a:t>
            </a:r>
            <a:endParaRPr lang="en-US" sz="2350" dirty="0"/>
          </a:p>
        </p:txBody>
      </p:sp>
      <p:sp>
        <p:nvSpPr>
          <p:cNvPr id="31" name="Text 29"/>
          <p:cNvSpPr/>
          <p:nvPr/>
        </p:nvSpPr>
        <p:spPr>
          <a:xfrm>
            <a:off x="10532983" y="1743432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Avril 2026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9869686" y="2166938"/>
            <a:ext cx="3851791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Co-équipier de développement</a:t>
            </a:r>
            <a:pPr algn="ctr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L'IA intégrée durablement comme "développeur junior"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9869686" y="3191351"/>
            <a:ext cx="3851791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Sources :</a:t>
            </a:r>
            <a:pPr algn="ctr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DigitalApplied (02/04/2026), DEV Community (15/04/2026)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40568"/>
            <a:ext cx="70906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3. Exploitation personnelle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0297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Grâce à cette veille, j'ai pu améliorer ma manière de coder et mieux comprendre l'écosystème des assistants IA 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421029"/>
            <a:ext cx="13042821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J'utilise régulièrement GitHub Copilot dans mes projets pour accélérer le développement et apprendre de meilleures pratiques.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Je valide toujours le code généré par l'IA pour éviter les erreurs et garder le contrôle.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431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4. 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Cette veille m'a aidé à mieux comprendre et utiliser les outils IA.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Maîtriser ces outils est une compétence clé en 2026.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2026-04-16T14:58:33Z</dcterms:created>
  <dcterms:modified xsi:type="dcterms:W3CDTF">2026-04-16T14:58:33Z</dcterms:modified>
</cp:coreProperties>
</file>